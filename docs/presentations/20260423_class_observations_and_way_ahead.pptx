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hdphoto2.wdp" ContentType="image/vnd.ms-photo"/>
  <Override PartName="/ppt/media/hdphoto1.wdp" ContentType="image/vnd.ms-photo"/>
  <Override PartName="/ppt/media/hdphoto3.wdp" ContentType="image/vnd.ms-photo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88825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9520" y="457200"/>
            <a:ext cx="3929400" cy="15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181840" y="987480"/>
            <a:ext cx="6168600" cy="4871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839520" y="2057400"/>
            <a:ext cx="3929400" cy="38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83772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4037400" y="6356520"/>
            <a:ext cx="411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860796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000456-8564-4AED-A608-41DC511750D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160" y="1122480"/>
            <a:ext cx="913968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83772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4037400" y="6356520"/>
            <a:ext cx="411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860796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1AD546-6858-430F-AA44-10627C948814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812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92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7720" y="1825560"/>
            <a:ext cx="1051092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772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7400" y="6356520"/>
            <a:ext cx="411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0796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BA6B0C-D6D7-43ED-9DDB-88DAA91E0EA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722440" y="365040"/>
            <a:ext cx="2626560" cy="581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7720" y="365040"/>
            <a:ext cx="7730280" cy="581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83772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4037400" y="6356520"/>
            <a:ext cx="411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860796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6C1E0EE-0E06-41FD-91C8-1D91650E2FA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92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7720" y="1825560"/>
            <a:ext cx="1051092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772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7400" y="6356520"/>
            <a:ext cx="411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0796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6DBA8D-EC62-41C9-8827-349B57287612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0920" cy="285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1600" y="4589640"/>
            <a:ext cx="1051092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83772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4037400" y="6356520"/>
            <a:ext cx="411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860796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B4B513-51B6-44CA-95B8-0EC7100234D6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92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7720" y="1825560"/>
            <a:ext cx="517824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170400" y="1825560"/>
            <a:ext cx="517824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83772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4037400" y="6356520"/>
            <a:ext cx="411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860796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DB67DF3-C873-4E83-B7BE-429E0DFBFA8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9520" y="365040"/>
            <a:ext cx="1051092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9520" y="1681200"/>
            <a:ext cx="515448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839520" y="2505240"/>
            <a:ext cx="5154480" cy="368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6170400" y="1681200"/>
            <a:ext cx="518004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170400" y="2505240"/>
            <a:ext cx="5180040" cy="368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dt" idx="22"/>
          </p:nvPr>
        </p:nvSpPr>
        <p:spPr>
          <a:xfrm>
            <a:off x="83772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ftr" idx="23"/>
          </p:nvPr>
        </p:nvSpPr>
        <p:spPr>
          <a:xfrm>
            <a:off x="4037400" y="6356520"/>
            <a:ext cx="411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8"/>
          <p:cNvSpPr>
            <a:spLocks noGrp="1"/>
          </p:cNvSpPr>
          <p:nvPr>
            <p:ph type="sldNum" idx="24"/>
          </p:nvPr>
        </p:nvSpPr>
        <p:spPr>
          <a:xfrm>
            <a:off x="860796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9326CB-6CD6-4E2C-BD7A-6520B534F00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92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25"/>
          </p:nvPr>
        </p:nvSpPr>
        <p:spPr>
          <a:xfrm>
            <a:off x="83772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6"/>
          </p:nvPr>
        </p:nvSpPr>
        <p:spPr>
          <a:xfrm>
            <a:off x="4037400" y="6356520"/>
            <a:ext cx="411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7"/>
          </p:nvPr>
        </p:nvSpPr>
        <p:spPr>
          <a:xfrm>
            <a:off x="860796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683C2DD-2D01-4F3E-8C7F-2EB85C1296D1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812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8"/>
          </p:nvPr>
        </p:nvSpPr>
        <p:spPr>
          <a:xfrm>
            <a:off x="83772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9"/>
          </p:nvPr>
        </p:nvSpPr>
        <p:spPr>
          <a:xfrm>
            <a:off x="4037400" y="6356520"/>
            <a:ext cx="411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30"/>
          </p:nvPr>
        </p:nvSpPr>
        <p:spPr>
          <a:xfrm>
            <a:off x="860796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4CC8FF-A4CE-4A75-911E-08C23647E09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8120" cy="11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812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9520" y="457200"/>
            <a:ext cx="3929400" cy="15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181840" y="987480"/>
            <a:ext cx="6168600" cy="487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839520" y="2057400"/>
            <a:ext cx="3929400" cy="38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1"/>
          </p:nvPr>
        </p:nvSpPr>
        <p:spPr>
          <a:xfrm>
            <a:off x="83772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2"/>
          </p:nvPr>
        </p:nvSpPr>
        <p:spPr>
          <a:xfrm>
            <a:off x="4037400" y="6356520"/>
            <a:ext cx="411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3"/>
          </p:nvPr>
        </p:nvSpPr>
        <p:spPr>
          <a:xfrm>
            <a:off x="8607960" y="6356520"/>
            <a:ext cx="2740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0804E46-1376-441C-814F-15A1B0A797F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microsoft.com/office/2007/relationships/hdphoto" Target="../media/hdphoto1.wdp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microsoft.com/office/2007/relationships/hdphoto" Target="../media/hdphoto2.wdp"/><Relationship Id="rId8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microsoft.com/office/2007/relationships/hdphoto" Target="../media/hdphoto3.wdp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160" y="1122480"/>
            <a:ext cx="913968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Spring2026DAEN April 23 Checkpoint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812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Dashboard observations, PR #14 recommendation, and closeout way ahead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Data science and analytics focus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April 23, 2026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65" name="Group 5"/>
          <p:cNvGrpSpPr/>
          <p:nvPr/>
        </p:nvGrpSpPr>
        <p:grpSpPr>
          <a:xfrm>
            <a:off x="-42840" y="-2160"/>
            <a:ext cx="3348720" cy="920160"/>
            <a:chOff x="-42840" y="-2160"/>
            <a:chExt cx="3348720" cy="920160"/>
          </a:xfrm>
        </p:grpSpPr>
        <p:pic>
          <p:nvPicPr>
            <p:cNvPr id="66" name="Picture 1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840" y="-2160"/>
              <a:ext cx="1143360" cy="92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7" name="TextBox 1"/>
            <p:cNvSpPr/>
            <p:nvPr/>
          </p:nvSpPr>
          <p:spPr>
            <a:xfrm>
              <a:off x="103500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" name="Group 6"/>
          <p:cNvGrpSpPr/>
          <p:nvPr/>
        </p:nvGrpSpPr>
        <p:grpSpPr>
          <a:xfrm>
            <a:off x="10741680" y="102240"/>
            <a:ext cx="1266840" cy="1268280"/>
            <a:chOff x="10741680" y="102240"/>
            <a:chExt cx="1266840" cy="1268280"/>
          </a:xfrm>
        </p:grpSpPr>
        <p:pic>
          <p:nvPicPr>
            <p:cNvPr id="69" name="Picture 12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1680" y="103320"/>
              <a:ext cx="1266840" cy="126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0" name="Picture 13"/>
            <p:cNvPicPr/>
            <p:nvPr/>
          </p:nvPicPr>
          <p:blipFill>
            <a:blip r:embed="rId4"/>
            <a:srcRect l="0" t="44439" r="0" b="40799"/>
            <a:stretch/>
          </p:blipFill>
          <p:spPr>
            <a:xfrm>
              <a:off x="10741680" y="667800"/>
              <a:ext cx="1266840" cy="18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1" name="Picture 14"/>
            <p:cNvPicPr/>
            <p:nvPr/>
          </p:nvPicPr>
          <p:blipFill>
            <a:blip r:embed="rId5"/>
            <a:srcRect l="20218" t="17167" r="19987" b="17283"/>
            <a:stretch/>
          </p:blipFill>
          <p:spPr>
            <a:xfrm>
              <a:off x="10996560" y="318960"/>
              <a:ext cx="763200" cy="83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" name="Picture 15"/>
            <p:cNvPicPr/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1680" y="102240"/>
              <a:ext cx="444960" cy="257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92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Why We Are Re-Centering Today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92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April 2: William demoed the baseline Streamlit dashboard and asked the team to extend it.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April 9: the updated dashboard was positively received and a draft PR review path was encouraged.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April 16: focus shifted toward testing, final report, final presentation, and future-work capture.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Today's (20260423) task is to separate meritorious work from merge-ready packaging.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75" name="Group 1"/>
          <p:cNvGrpSpPr/>
          <p:nvPr/>
        </p:nvGrpSpPr>
        <p:grpSpPr>
          <a:xfrm>
            <a:off x="-42840" y="-2160"/>
            <a:ext cx="3348720" cy="920160"/>
            <a:chOff x="-42840" y="-2160"/>
            <a:chExt cx="3348720" cy="920160"/>
          </a:xfrm>
        </p:grpSpPr>
        <p:pic>
          <p:nvPicPr>
            <p:cNvPr id="76" name="Picture 2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840" y="-2160"/>
              <a:ext cx="1143360" cy="92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7" name="TextBox 2"/>
            <p:cNvSpPr/>
            <p:nvPr/>
          </p:nvSpPr>
          <p:spPr>
            <a:xfrm>
              <a:off x="103500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" name="Group 2"/>
          <p:cNvGrpSpPr/>
          <p:nvPr/>
        </p:nvGrpSpPr>
        <p:grpSpPr>
          <a:xfrm>
            <a:off x="10741680" y="102240"/>
            <a:ext cx="1266840" cy="1268280"/>
            <a:chOff x="10741680" y="102240"/>
            <a:chExt cx="1266840" cy="1268280"/>
          </a:xfrm>
        </p:grpSpPr>
        <p:pic>
          <p:nvPicPr>
            <p:cNvPr id="79" name="Picture 3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1680" y="103320"/>
              <a:ext cx="1266840" cy="126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0" name="Picture 4"/>
            <p:cNvPicPr/>
            <p:nvPr/>
          </p:nvPicPr>
          <p:blipFill>
            <a:blip r:embed="rId4"/>
            <a:srcRect l="0" t="44439" r="0" b="40799"/>
            <a:stretch/>
          </p:blipFill>
          <p:spPr>
            <a:xfrm>
              <a:off x="10741680" y="667800"/>
              <a:ext cx="1266840" cy="18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1" name="Picture 5"/>
            <p:cNvPicPr/>
            <p:nvPr/>
          </p:nvPicPr>
          <p:blipFill>
            <a:blip r:embed="rId5"/>
            <a:srcRect l="20218" t="17167" r="19987" b="17283"/>
            <a:stretch/>
          </p:blipFill>
          <p:spPr>
            <a:xfrm>
              <a:off x="10996560" y="318960"/>
              <a:ext cx="763200" cy="83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2" name="Picture 6"/>
            <p:cNvPicPr/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1680" y="102240"/>
              <a:ext cx="444960" cy="257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92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What the April MOMs Confirm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92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Dashboard enhancement was explicitly requested; this was not random scope drift.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DuckDB integration and local analytical storytelling were expected parts of the class effort.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Future enhancement ideas should be preserved, but not crammed into the final capstone scope.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Major PRs were supposed to carry contribution comments and class-visible review discussion.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85" name="Group 3"/>
          <p:cNvGrpSpPr/>
          <p:nvPr/>
        </p:nvGrpSpPr>
        <p:grpSpPr>
          <a:xfrm>
            <a:off x="-42840" y="-2160"/>
            <a:ext cx="3348720" cy="920160"/>
            <a:chOff x="-42840" y="-2160"/>
            <a:chExt cx="3348720" cy="920160"/>
          </a:xfrm>
        </p:grpSpPr>
        <p:pic>
          <p:nvPicPr>
            <p:cNvPr id="86" name="Picture 7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840" y="-2160"/>
              <a:ext cx="1143360" cy="92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7" name="TextBox 5"/>
            <p:cNvSpPr/>
            <p:nvPr/>
          </p:nvSpPr>
          <p:spPr>
            <a:xfrm>
              <a:off x="103500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8" name="Group 4"/>
          <p:cNvGrpSpPr/>
          <p:nvPr/>
        </p:nvGrpSpPr>
        <p:grpSpPr>
          <a:xfrm>
            <a:off x="10741680" y="102240"/>
            <a:ext cx="1266840" cy="1268280"/>
            <a:chOff x="10741680" y="102240"/>
            <a:chExt cx="1266840" cy="1268280"/>
          </a:xfrm>
        </p:grpSpPr>
        <p:pic>
          <p:nvPicPr>
            <p:cNvPr id="89" name="Picture 8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1680" y="103320"/>
              <a:ext cx="1266840" cy="126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0" name="Picture 9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1680" y="667800"/>
              <a:ext cx="1266840" cy="18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1" name="Picture 10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6560" y="318960"/>
              <a:ext cx="763200" cy="83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2" name="Picture 16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1680" y="102240"/>
              <a:ext cx="444960" cy="257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92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Current Repo Truth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92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PR #13 and PR #19 are already merged; both were low-risk support updates with no app impact.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PR #14 is still OPEN, blocked, and review-required in GitHub.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The April 16 MOM note saying PR #14 was merged does not match the actual repository state.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Main now includes the April MOM uploads and the Puerto Rico Census boundary reference note.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95" name="Group 7"/>
          <p:cNvGrpSpPr/>
          <p:nvPr/>
        </p:nvGrpSpPr>
        <p:grpSpPr>
          <a:xfrm>
            <a:off x="-42840" y="-2160"/>
            <a:ext cx="3348720" cy="920160"/>
            <a:chOff x="-42840" y="-2160"/>
            <a:chExt cx="3348720" cy="920160"/>
          </a:xfrm>
        </p:grpSpPr>
        <p:pic>
          <p:nvPicPr>
            <p:cNvPr id="96" name="Picture 17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840" y="-2160"/>
              <a:ext cx="1143360" cy="92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7" name="TextBox 6"/>
            <p:cNvSpPr/>
            <p:nvPr/>
          </p:nvSpPr>
          <p:spPr>
            <a:xfrm>
              <a:off x="103500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8" name="Group 8"/>
          <p:cNvGrpSpPr/>
          <p:nvPr/>
        </p:nvGrpSpPr>
        <p:grpSpPr>
          <a:xfrm>
            <a:off x="10741680" y="102240"/>
            <a:ext cx="1266840" cy="1268280"/>
            <a:chOff x="10741680" y="102240"/>
            <a:chExt cx="1266840" cy="1268280"/>
          </a:xfrm>
        </p:grpSpPr>
        <p:pic>
          <p:nvPicPr>
            <p:cNvPr id="99" name="Picture 18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1680" y="103320"/>
              <a:ext cx="1266840" cy="126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0" name="Picture 19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1680" y="667800"/>
              <a:ext cx="1266840" cy="18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1" name="Picture 20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6560" y="318960"/>
              <a:ext cx="763200" cy="83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2" name="Picture 21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1680" y="102240"/>
              <a:ext cx="444960" cy="257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92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PR #14: What Is Meritorious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536400" y="1822320"/>
            <a:ext cx="1066500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It aligns with William's request to improve the baseline dashboard and take ownership of the app.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It demonstrates initiative around maps, rankings, live conditions, explainability, and exploration.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It reflects the class's strongest visible product direction and has real stakeholder appeal.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The underlying direction deserves support asa team and as an aoportunity for relevant contributionst.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480000" y="1822320"/>
            <a:ext cx="517824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106" name="Group 9"/>
          <p:cNvGrpSpPr/>
          <p:nvPr/>
        </p:nvGrpSpPr>
        <p:grpSpPr>
          <a:xfrm>
            <a:off x="-42840" y="-2160"/>
            <a:ext cx="3348720" cy="920160"/>
            <a:chOff x="-42840" y="-2160"/>
            <a:chExt cx="3348720" cy="920160"/>
          </a:xfrm>
        </p:grpSpPr>
        <p:pic>
          <p:nvPicPr>
            <p:cNvPr id="107" name="Picture 22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840" y="-2160"/>
              <a:ext cx="1143360" cy="92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8" name="TextBox 7"/>
            <p:cNvSpPr/>
            <p:nvPr/>
          </p:nvSpPr>
          <p:spPr>
            <a:xfrm>
              <a:off x="103500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9" name="Group 10"/>
          <p:cNvGrpSpPr/>
          <p:nvPr/>
        </p:nvGrpSpPr>
        <p:grpSpPr>
          <a:xfrm>
            <a:off x="10741680" y="102240"/>
            <a:ext cx="1266840" cy="1268280"/>
            <a:chOff x="10741680" y="102240"/>
            <a:chExt cx="1266840" cy="1268280"/>
          </a:xfrm>
        </p:grpSpPr>
        <p:pic>
          <p:nvPicPr>
            <p:cNvPr id="110" name="Picture 23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1680" y="103320"/>
              <a:ext cx="1266840" cy="126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1" name="Picture 24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1680" y="667800"/>
              <a:ext cx="1266840" cy="18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2" name="Picture 25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6560" y="318960"/>
              <a:ext cx="763200" cy="83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3" name="Picture 26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1680" y="102240"/>
              <a:ext cx="444960" cy="257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92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PR #14: Why It Is Not Merge-Ready As-Is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92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It is too large: 21 files and more than 10,000 insertions.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It mixes dashboard work, notebook reruns, docs, tests, SQL, and DuckDB-builder changes in one shot.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The review noise makes it hard to separate capstone-critical value from churn and future extras.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Late-semester merges should reduce ambiguity, not multiply it.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116" name="Group 11"/>
          <p:cNvGrpSpPr/>
          <p:nvPr/>
        </p:nvGrpSpPr>
        <p:grpSpPr>
          <a:xfrm>
            <a:off x="-42480" y="-2160"/>
            <a:ext cx="3348720" cy="920160"/>
            <a:chOff x="-42480" y="-2160"/>
            <a:chExt cx="3348720" cy="920160"/>
          </a:xfrm>
        </p:grpSpPr>
        <p:pic>
          <p:nvPicPr>
            <p:cNvPr id="117" name="Picture 11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480" y="-2160"/>
              <a:ext cx="1143360" cy="92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8" name="TextBox 3"/>
            <p:cNvSpPr/>
            <p:nvPr/>
          </p:nvSpPr>
          <p:spPr>
            <a:xfrm>
              <a:off x="103536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9" name="Group 12"/>
          <p:cNvGrpSpPr/>
          <p:nvPr/>
        </p:nvGrpSpPr>
        <p:grpSpPr>
          <a:xfrm>
            <a:off x="10742040" y="102240"/>
            <a:ext cx="1266840" cy="1268280"/>
            <a:chOff x="10742040" y="102240"/>
            <a:chExt cx="1266840" cy="1268280"/>
          </a:xfrm>
        </p:grpSpPr>
        <p:pic>
          <p:nvPicPr>
            <p:cNvPr id="120" name="Picture 27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040" y="103320"/>
              <a:ext cx="1266840" cy="126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1" name="Picture 28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040" y="667800"/>
              <a:ext cx="1266840" cy="18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2" name="Picture 29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6920" y="318960"/>
              <a:ext cx="763200" cy="83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3" name="Picture 30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040" y="102240"/>
              <a:ext cx="444960" cy="257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92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Recommended Treatment for PR #14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92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Keep the PR open for review; do not merge the whole thing as-is.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Identify the capstone-critical dashboard and data-layer changes worth extracting first.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Split or rebuild into smaller reviewable pieces with clear validation and contribution traceability.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Preserve noncritical enhancements as future-work notes or separate follow-on PRs.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126" name="Group 13"/>
          <p:cNvGrpSpPr/>
          <p:nvPr/>
        </p:nvGrpSpPr>
        <p:grpSpPr>
          <a:xfrm>
            <a:off x="-42480" y="-2160"/>
            <a:ext cx="3348720" cy="920160"/>
            <a:chOff x="-42480" y="-2160"/>
            <a:chExt cx="3348720" cy="920160"/>
          </a:xfrm>
        </p:grpSpPr>
        <p:pic>
          <p:nvPicPr>
            <p:cNvPr id="127" name="Picture 31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480" y="-2160"/>
              <a:ext cx="1143360" cy="92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8" name="TextBox 8"/>
            <p:cNvSpPr/>
            <p:nvPr/>
          </p:nvSpPr>
          <p:spPr>
            <a:xfrm>
              <a:off x="103536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9" name="Group 14"/>
          <p:cNvGrpSpPr/>
          <p:nvPr/>
        </p:nvGrpSpPr>
        <p:grpSpPr>
          <a:xfrm>
            <a:off x="10742040" y="102240"/>
            <a:ext cx="1266840" cy="1268280"/>
            <a:chOff x="10742040" y="102240"/>
            <a:chExt cx="1266840" cy="1268280"/>
          </a:xfrm>
        </p:grpSpPr>
        <p:pic>
          <p:nvPicPr>
            <p:cNvPr id="130" name="Picture 32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040" y="103320"/>
              <a:ext cx="1266840" cy="126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1" name="Picture 33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040" y="667800"/>
              <a:ext cx="1266840" cy="18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2" name="Picture 34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6920" y="318960"/>
              <a:ext cx="763200" cy="83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3" name="Picture 35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040" y="102240"/>
              <a:ext cx="444960" cy="257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92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What the Project Still Owes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92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Truthful repo state and a clear record of what actually landed in main.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Final report completion with explainable methods and defensible scope boundaries.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Final presentation rehearsal backed by stable demo paths and polished talking points.</a:t>
            </a:r>
            <a:br>
              <a:rPr sz="2100"/>
            </a:b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	</a:t>
            </a: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(Siva presented 20260423 alingment and dreiction on behalf of the class)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Dashboard bug testing, small usability fixes, and documented future enhancement lanes.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136" name="Group 15"/>
          <p:cNvGrpSpPr/>
          <p:nvPr/>
        </p:nvGrpSpPr>
        <p:grpSpPr>
          <a:xfrm>
            <a:off x="-42120" y="-2160"/>
            <a:ext cx="3348720" cy="920160"/>
            <a:chOff x="-42120" y="-2160"/>
            <a:chExt cx="3348720" cy="920160"/>
          </a:xfrm>
        </p:grpSpPr>
        <p:pic>
          <p:nvPicPr>
            <p:cNvPr id="137" name="Picture 36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360" cy="92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8" name="TextBox 9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9" name="Group 16"/>
          <p:cNvGrpSpPr/>
          <p:nvPr/>
        </p:nvGrpSpPr>
        <p:grpSpPr>
          <a:xfrm>
            <a:off x="10742400" y="102240"/>
            <a:ext cx="1266840" cy="1268280"/>
            <a:chOff x="10742400" y="102240"/>
            <a:chExt cx="1266840" cy="1268280"/>
          </a:xfrm>
        </p:grpSpPr>
        <p:pic>
          <p:nvPicPr>
            <p:cNvPr id="140" name="Picture 37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6840" cy="126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1" name="Picture 38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6840" cy="18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2" name="Picture 39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3200" cy="83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3" name="Picture 40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4960" cy="257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92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Class Observations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92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The students moved in the right direction and responded to client guidance with real ownership.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Support for the work should not be confused with automatic approval of the current PR shape.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Good capstones balance ambition with reviewability, reproducibility, and explanation.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The right lesson here is not “do less”; it is “package good work in a mergeable way.”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146" name="Group 17"/>
          <p:cNvGrpSpPr/>
          <p:nvPr/>
        </p:nvGrpSpPr>
        <p:grpSpPr>
          <a:xfrm>
            <a:off x="-42120" y="-2160"/>
            <a:ext cx="3348720" cy="920160"/>
            <a:chOff x="-42120" y="-2160"/>
            <a:chExt cx="3348720" cy="920160"/>
          </a:xfrm>
        </p:grpSpPr>
        <p:pic>
          <p:nvPicPr>
            <p:cNvPr id="147" name="Picture 41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360" cy="92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8" name="TextBox 10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9" name="Group 18"/>
          <p:cNvGrpSpPr/>
          <p:nvPr/>
        </p:nvGrpSpPr>
        <p:grpSpPr>
          <a:xfrm>
            <a:off x="10742400" y="102240"/>
            <a:ext cx="1266840" cy="1268280"/>
            <a:chOff x="10742400" y="102240"/>
            <a:chExt cx="1266840" cy="1268280"/>
          </a:xfrm>
        </p:grpSpPr>
        <p:pic>
          <p:nvPicPr>
            <p:cNvPr id="150" name="Picture 42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6840" cy="126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1" name="Picture 43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6840" cy="18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2" name="Picture 44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3200" cy="83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3" name="Picture 45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4960" cy="257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92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Recommended Class Discussion Today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92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Confirm what is already in main versus what is still only proposed in PR #14. (20260423 Done!)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  <a:ea typeface="Arial Unicode MS"/>
              </a:rPr>
              <a:t>Agree on whether PR #14 should be narrowed, split, or partially extracted before any merge. </a:t>
            </a: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(20260423 Done!)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  <a:ea typeface="Arial Unicode MS"/>
              </a:rPr>
              <a:t>Decide which items are current deliverable commitments versus future-capstone recommendations. </a:t>
            </a: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(20260423 Done!)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  <a:ea typeface="Arial Unicode MS"/>
              </a:rPr>
              <a:t>Assign closeout work across report, presentation, dashboard polish, and future-work capture. </a:t>
            </a: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(20260423 Done via email and repo doc!)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pSp>
        <p:nvGrpSpPr>
          <p:cNvPr id="156" name="Group 19"/>
          <p:cNvGrpSpPr/>
          <p:nvPr/>
        </p:nvGrpSpPr>
        <p:grpSpPr>
          <a:xfrm>
            <a:off x="-42120" y="-2160"/>
            <a:ext cx="3348720" cy="920160"/>
            <a:chOff x="-42120" y="-2160"/>
            <a:chExt cx="3348720" cy="920160"/>
          </a:xfrm>
        </p:grpSpPr>
        <p:pic>
          <p:nvPicPr>
            <p:cNvPr id="157" name="Picture 46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360" cy="92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8" name="TextBox 11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9" name="Group 20"/>
          <p:cNvGrpSpPr/>
          <p:nvPr/>
        </p:nvGrpSpPr>
        <p:grpSpPr>
          <a:xfrm>
            <a:off x="10742400" y="102240"/>
            <a:ext cx="1266840" cy="1268280"/>
            <a:chOff x="10742400" y="102240"/>
            <a:chExt cx="1266840" cy="1268280"/>
          </a:xfrm>
        </p:grpSpPr>
        <p:pic>
          <p:nvPicPr>
            <p:cNvPr id="160" name="Picture 47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6840" cy="126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1" name="Picture 48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6840" cy="18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2" name="Picture 49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3200" cy="83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3" name="Picture 50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4960" cy="257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92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Appendix: Closeout Work Lanes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812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166" name="Table 3"/>
          <p:cNvGraphicFramePr/>
          <p:nvPr/>
        </p:nvGraphicFramePr>
        <p:xfrm>
          <a:off x="411480" y="1554480"/>
          <a:ext cx="11201040" cy="4160160"/>
        </p:xfrm>
        <a:graphic>
          <a:graphicData uri="http://schemas.openxmlformats.org/drawingml/2006/table">
            <a:tbl>
              <a:tblPr/>
              <a:tblGrid>
                <a:gridCol w="640080"/>
                <a:gridCol w="914400"/>
                <a:gridCol w="2240280"/>
                <a:gridCol w="3017520"/>
                <a:gridCol w="4389120"/>
              </a:tblGrid>
              <a:tr h="6933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Lane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Status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Why it matters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Next action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Suggested owner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3A56"/>
                    </a:solidFill>
                  </a:tcPr>
                </a:tc>
              </a:tr>
              <a:tr h="693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Repo truth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Active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Class needs one agreed story about what is merged and what is still open.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State clearly that PR #14 remains open and that main already contains PRs #13 and #19.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Instructor-led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</a:tr>
              <a:tr h="693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PR #14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Open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Main student-forward engineering thread, but too large to merge whole.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Narrow, split, or extract capstone-critical pieces only.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Siva + class review + instructor guidance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Final deliverables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Active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Report and presentation now matter as much as implementation polish.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Finish report, rehearse presentation, and stabilize demo path.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Whole team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</a:tr>
              <a:tr h="693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Future work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Active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Good ideas should be preserved without blowing current scope.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Document terrain, earthquake, AI/ML, and deeper sensor granularity as follow-on lanes.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64646"/>
                          </a:solidFill>
                          <a:effectLst/>
                          <a:uFillTx/>
                          <a:latin typeface="Arial"/>
                        </a:rPr>
                        <a:t>Whole team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360"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167" name="TextBox 4"/>
          <p:cNvSpPr/>
          <p:nvPr/>
        </p:nvSpPr>
        <p:spPr>
          <a:xfrm>
            <a:off x="502920" y="5715000"/>
            <a:ext cx="10972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300" b="0" i="1" u="none" strike="noStrike">
                <a:solidFill>
                  <a:srgbClr val="4F6F52"/>
                </a:solidFill>
                <a:effectLst/>
                <a:uFillTx/>
                <a:latin typeface="Arial"/>
              </a:rPr>
              <a:t>Goal: validate the work, correct the repo record, and finish the capstone without scope drama.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8" name="Group 21"/>
          <p:cNvGrpSpPr/>
          <p:nvPr/>
        </p:nvGrpSpPr>
        <p:grpSpPr>
          <a:xfrm>
            <a:off x="-42120" y="-2160"/>
            <a:ext cx="3348720" cy="920160"/>
            <a:chOff x="-42120" y="-2160"/>
            <a:chExt cx="3348720" cy="920160"/>
          </a:xfrm>
        </p:grpSpPr>
        <p:pic>
          <p:nvPicPr>
            <p:cNvPr id="169" name="Picture 51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360" cy="92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0" name="TextBox 12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1" name="Group 22"/>
          <p:cNvGrpSpPr/>
          <p:nvPr/>
        </p:nvGrpSpPr>
        <p:grpSpPr>
          <a:xfrm>
            <a:off x="10742400" y="102240"/>
            <a:ext cx="1266840" cy="1268280"/>
            <a:chOff x="10742400" y="102240"/>
            <a:chExt cx="1266840" cy="1268280"/>
          </a:xfrm>
        </p:grpSpPr>
        <p:pic>
          <p:nvPicPr>
            <p:cNvPr id="172" name="Picture 52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6840" cy="126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3" name="Picture 53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6840" cy="18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4" name="Picture 54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3200" cy="83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5" name="Picture 55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4960" cy="257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0920" cy="285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Next Class Goal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092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Finish strong: keep the dashboard direction, tighten the delivery path, and close out with a report, presentation, and repo story the next team can trust.</a:t>
            </a:r>
            <a:endParaRPr lang="en-US" sz="22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grpSp>
        <p:nvGrpSpPr>
          <p:cNvPr id="178" name="Group 23"/>
          <p:cNvGrpSpPr/>
          <p:nvPr/>
        </p:nvGrpSpPr>
        <p:grpSpPr>
          <a:xfrm>
            <a:off x="-42120" y="-2160"/>
            <a:ext cx="3348720" cy="920160"/>
            <a:chOff x="-42120" y="-2160"/>
            <a:chExt cx="3348720" cy="920160"/>
          </a:xfrm>
        </p:grpSpPr>
        <p:pic>
          <p:nvPicPr>
            <p:cNvPr id="179" name="Picture 56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360" cy="92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0" name="TextBox 13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1" name="Group 24"/>
          <p:cNvGrpSpPr/>
          <p:nvPr/>
        </p:nvGrpSpPr>
        <p:grpSpPr>
          <a:xfrm>
            <a:off x="10742400" y="102240"/>
            <a:ext cx="1266840" cy="1268280"/>
            <a:chOff x="10742400" y="102240"/>
            <a:chExt cx="1266840" cy="1268280"/>
          </a:xfrm>
        </p:grpSpPr>
        <p:pic>
          <p:nvPicPr>
            <p:cNvPr id="182" name="Picture 57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6840" cy="126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3" name="Picture 58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6840" cy="18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4" name="Picture 59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3200" cy="83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5" name="Picture 60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4960" cy="257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831600" y="918000"/>
            <a:ext cx="10141200" cy="57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PR #14 contribution opportunity!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831600" y="1600200"/>
            <a:ext cx="10510920" cy="448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 #14 contains strong work and real initiative, but it is too large and mixed to merge as-is. So instead of treating it like one giant yes/no decision, we are going to turn it into smaller, first-time-contributor-friendly PR opportunities.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Your goal is not to rewrite the whole dashboard alone. Your goal is to make one clear, reviewable contribution tied to PR #14.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If your contribution is more analytical, documentation-focused, or product-focused than deeply technical, that is still valid. If a task needs heavier implementation help, Siva and I will facilitate the technical lift after you define the need clearly.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88" name="Group 25"/>
          <p:cNvGrpSpPr/>
          <p:nvPr/>
        </p:nvGrpSpPr>
        <p:grpSpPr>
          <a:xfrm>
            <a:off x="-42120" y="-2160"/>
            <a:ext cx="3348720" cy="920160"/>
            <a:chOff x="-42120" y="-2160"/>
            <a:chExt cx="3348720" cy="920160"/>
          </a:xfrm>
        </p:grpSpPr>
        <p:pic>
          <p:nvPicPr>
            <p:cNvPr id="189" name="Picture 61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360" cy="92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0" name="TextBox 14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1" name="Group 26"/>
          <p:cNvGrpSpPr/>
          <p:nvPr/>
        </p:nvGrpSpPr>
        <p:grpSpPr>
          <a:xfrm>
            <a:off x="10742400" y="102240"/>
            <a:ext cx="1266840" cy="1268280"/>
            <a:chOff x="10742400" y="102240"/>
            <a:chExt cx="1266840" cy="1268280"/>
          </a:xfrm>
        </p:grpSpPr>
        <p:pic>
          <p:nvPicPr>
            <p:cNvPr id="192" name="Picture 62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6840" cy="126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3" name="Picture 63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6840" cy="18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4" name="Picture 64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3200" cy="83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5" name="Picture 65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4960" cy="257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831600" y="918000"/>
            <a:ext cx="10141200" cy="57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PR #14 contribution opportunity!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831600" y="1600200"/>
            <a:ext cx="10510920" cy="448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Ground Rules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Pick one small contribution.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Open a small PR or draft PR, not a giant branch dump.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In your PR, explain: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 ◦ what you changed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 ◦ why it matters to PR #14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 ◦ whether it affects the app, docs, or analysis only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If you are not writing code, you can still contribute through review notes, requirements clarification, validation notes, UX suggestions, or documentation.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98" name="Group 27"/>
          <p:cNvGrpSpPr/>
          <p:nvPr/>
        </p:nvGrpSpPr>
        <p:grpSpPr>
          <a:xfrm>
            <a:off x="-42120" y="-2160"/>
            <a:ext cx="3348720" cy="920160"/>
            <a:chOff x="-42120" y="-2160"/>
            <a:chExt cx="3348720" cy="920160"/>
          </a:xfrm>
        </p:grpSpPr>
        <p:pic>
          <p:nvPicPr>
            <p:cNvPr id="199" name="Picture 66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360" cy="92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0" name="TextBox 15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1" name="Group 28"/>
          <p:cNvGrpSpPr/>
          <p:nvPr/>
        </p:nvGrpSpPr>
        <p:grpSpPr>
          <a:xfrm>
            <a:off x="10742400" y="102240"/>
            <a:ext cx="1266840" cy="1268280"/>
            <a:chOff x="10742400" y="102240"/>
            <a:chExt cx="1266840" cy="1268280"/>
          </a:xfrm>
        </p:grpSpPr>
        <p:pic>
          <p:nvPicPr>
            <p:cNvPr id="202" name="Picture 67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6840" cy="126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3" name="Picture 68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6840" cy="18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4" name="Picture 69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3200" cy="83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5" name="Picture 70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4960" cy="257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831600" y="918000"/>
            <a:ext cx="10141200" cy="57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PR #14 contribution opportunity!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831600" y="1600200"/>
            <a:ext cx="10510920" cy="448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Good First PR Options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1. PR: Dashboard review note and split recommendation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Task: Create a short Markdown note in docs/planning/ or docs/research/ summarizing what in PR #14 appears merge-ready now vs what should be split into future PRs.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Good for: students who want to contribute without changing app code.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Deliverable: 1 short file with sections like keep now, split later, future enhancements.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2. PR: Municipio dropdown requirement note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Task: Add a short requirement/spec note for the alphabetical municipio dropdown requested in the April 9 meeting.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Good for: students interested in UX, product thinking, or requirements.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Deliverable: a short doc describing: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 ◦ why the dropdown is needed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 ◦ where it should appear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 ◦ what problem it solves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 ◦ what counts as success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08" name="Group 29"/>
          <p:cNvGrpSpPr/>
          <p:nvPr/>
        </p:nvGrpSpPr>
        <p:grpSpPr>
          <a:xfrm>
            <a:off x="-42120" y="-2160"/>
            <a:ext cx="3348720" cy="920160"/>
            <a:chOff x="-42120" y="-2160"/>
            <a:chExt cx="3348720" cy="920160"/>
          </a:xfrm>
        </p:grpSpPr>
        <p:pic>
          <p:nvPicPr>
            <p:cNvPr id="209" name="Picture 71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360" cy="92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10" name="TextBox 16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1" name="Group 30"/>
          <p:cNvGrpSpPr/>
          <p:nvPr/>
        </p:nvGrpSpPr>
        <p:grpSpPr>
          <a:xfrm>
            <a:off x="10742400" y="102240"/>
            <a:ext cx="1266840" cy="1268280"/>
            <a:chOff x="10742400" y="102240"/>
            <a:chExt cx="1266840" cy="1268280"/>
          </a:xfrm>
        </p:grpSpPr>
        <p:pic>
          <p:nvPicPr>
            <p:cNvPr id="212" name="Picture 72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6840" cy="126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3" name="Picture 73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6840" cy="18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4" name="Picture 74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3200" cy="83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5" name="Picture 75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4960" cy="257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831600" y="918000"/>
            <a:ext cx="10141200" cy="57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PR #14 contribution opportunity!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831600" y="1600200"/>
            <a:ext cx="10510920" cy="448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3. PR: Light theme bug list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Task: Test the dashboard theme behavior and document visible issues in a small Markdown file.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Good for: students who can test but are new to coding.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Deliverable: issue list with: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 ◦ screen/feature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 ◦ what breaks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 ◦ reproduction steps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 ◦ expected behavior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4. PR: Dashboard data dictionary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Task: Document the meaning of key fields shown in the dashboard or used in PR #14, such as hazard, vulnerability, readiness, priority band, no-vehicle households, poverty, and income.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Good for: students with analytical or writing strengths.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Deliverable: a glossary/data dictionary page that future reviewers can use.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18" name="Group 31"/>
          <p:cNvGrpSpPr/>
          <p:nvPr/>
        </p:nvGrpSpPr>
        <p:grpSpPr>
          <a:xfrm>
            <a:off x="-42120" y="-2160"/>
            <a:ext cx="3348720" cy="920160"/>
            <a:chOff x="-42120" y="-2160"/>
            <a:chExt cx="3348720" cy="920160"/>
          </a:xfrm>
        </p:grpSpPr>
        <p:pic>
          <p:nvPicPr>
            <p:cNvPr id="219" name="Picture 76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360" cy="92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20" name="TextBox 17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1" name="Group 32"/>
          <p:cNvGrpSpPr/>
          <p:nvPr/>
        </p:nvGrpSpPr>
        <p:grpSpPr>
          <a:xfrm>
            <a:off x="10742400" y="102240"/>
            <a:ext cx="1266840" cy="1268280"/>
            <a:chOff x="10742400" y="102240"/>
            <a:chExt cx="1266840" cy="1268280"/>
          </a:xfrm>
        </p:grpSpPr>
        <p:pic>
          <p:nvPicPr>
            <p:cNvPr id="222" name="Picture 77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6840" cy="126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3" name="Picture 78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6840" cy="18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4" name="Picture 79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3200" cy="83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5" name="Picture 80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4960" cy="257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831600" y="918000"/>
            <a:ext cx="10141200" cy="57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PR #14 contribution opportunity!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831600" y="1600200"/>
            <a:ext cx="10510920" cy="448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5. PR: Validation note for selected municipios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Task: Build a short validation note for San Juan, Mayagüez, and Salinas using open-source references or public reporting.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Good for: students who prefer research and interpretation.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Deliverable: a short note explaining whether the dashboard outputs seem directionally believable for those municipios.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6. PR: PR #14 contribution log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Task: Add a structured contribution note so the class can document who contributed what to the dashboard effort.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Good for: everyone, especially first-time GitHub users.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Deliverable: a template or note with contributor name, area worked on, and evidence of contribution.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28" name="Group 33"/>
          <p:cNvGrpSpPr/>
          <p:nvPr/>
        </p:nvGrpSpPr>
        <p:grpSpPr>
          <a:xfrm>
            <a:off x="-42120" y="-2160"/>
            <a:ext cx="3348720" cy="920160"/>
            <a:chOff x="-42120" y="-2160"/>
            <a:chExt cx="3348720" cy="920160"/>
          </a:xfrm>
        </p:grpSpPr>
        <p:pic>
          <p:nvPicPr>
            <p:cNvPr id="229" name="Picture 81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360" cy="92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30" name="TextBox 18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1" name="Group 34"/>
          <p:cNvGrpSpPr/>
          <p:nvPr/>
        </p:nvGrpSpPr>
        <p:grpSpPr>
          <a:xfrm>
            <a:off x="10742400" y="102240"/>
            <a:ext cx="1266840" cy="1268280"/>
            <a:chOff x="10742400" y="102240"/>
            <a:chExt cx="1266840" cy="1268280"/>
          </a:xfrm>
        </p:grpSpPr>
        <p:pic>
          <p:nvPicPr>
            <p:cNvPr id="232" name="Picture 82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6840" cy="126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3" name="Picture 83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6840" cy="18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4" name="Picture 84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3200" cy="83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5" name="Picture 85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4960" cy="257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831600" y="918000"/>
            <a:ext cx="10141200" cy="57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PR #14 contribution opportunity!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831600" y="1600200"/>
            <a:ext cx="10510920" cy="448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7. PR: Future enhancements backlog from PR #14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Task: Turn noncritical ideas from PR #14 into a small future-work note instead of leaving them tangled inside the giant PR.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Good for: students who want to help with scope control.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Deliverable: a short backlog note with sections like: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 ◦ keep for current capstone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 ◦ future capstone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 ◦ nice-to-have only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  8. PR: SQL query examples for nontechnical reviewers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Task: Add beginner-friendly example queries or explanations for the SQL Explorer idea in PR #14.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Good for: students who want light technical work without deep app changes.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Deliverable: a Markdown note with example queries and plain-English explanations.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38" name="Group 35"/>
          <p:cNvGrpSpPr/>
          <p:nvPr/>
        </p:nvGrpSpPr>
        <p:grpSpPr>
          <a:xfrm>
            <a:off x="-42120" y="-2160"/>
            <a:ext cx="3348720" cy="920160"/>
            <a:chOff x="-42120" y="-2160"/>
            <a:chExt cx="3348720" cy="920160"/>
          </a:xfrm>
        </p:grpSpPr>
        <p:pic>
          <p:nvPicPr>
            <p:cNvPr id="239" name="Picture 86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360" cy="92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40" name="TextBox 19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1" name="Group 36"/>
          <p:cNvGrpSpPr/>
          <p:nvPr/>
        </p:nvGrpSpPr>
        <p:grpSpPr>
          <a:xfrm>
            <a:off x="10742400" y="102240"/>
            <a:ext cx="1266840" cy="1268280"/>
            <a:chOff x="10742400" y="102240"/>
            <a:chExt cx="1266840" cy="1268280"/>
          </a:xfrm>
        </p:grpSpPr>
        <p:pic>
          <p:nvPicPr>
            <p:cNvPr id="242" name="Picture 87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6840" cy="126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3" name="Picture 88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6840" cy="18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4" name="Picture 89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3200" cy="83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5" name="Picture 90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4960" cy="257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831600" y="918000"/>
            <a:ext cx="10141200" cy="57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F3A56"/>
                </a:solidFill>
                <a:effectLst/>
                <a:uFillTx/>
                <a:latin typeface="Aptos Display"/>
              </a:rPr>
              <a:t>PR #14 contribution opportunity!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831600" y="1600200"/>
            <a:ext cx="10510920" cy="448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For First-Time PR Authors: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Keep your PR small.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One file is fine.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Docs-only PRs are valid.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Clear explanation beats complicated code.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If you do not know how to implement the technical part, describe the requirement and expected result anyway.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What Siva And I Should Handle Siva and I should own the heavier technical extraction from PR #14, especially: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deciding what subset is capstone-critical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splitting app code from notebook reruns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handling DuckDB builder changes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validating run paths and tests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15000"/>
              </a:lnSpc>
              <a:spcAft>
                <a:spcPts val="1236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• deciding whether any dashboard code should land before final presentation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48" name="Group 37"/>
          <p:cNvGrpSpPr/>
          <p:nvPr/>
        </p:nvGrpSpPr>
        <p:grpSpPr>
          <a:xfrm>
            <a:off x="-42120" y="-2160"/>
            <a:ext cx="3348720" cy="920160"/>
            <a:chOff x="-42120" y="-2160"/>
            <a:chExt cx="3348720" cy="920160"/>
          </a:xfrm>
        </p:grpSpPr>
        <p:pic>
          <p:nvPicPr>
            <p:cNvPr id="249" name="Picture 91" descr="Home"/>
            <p:cNvPicPr/>
            <p:nvPr/>
          </p:nvPicPr>
          <p:blipFill>
            <a:blip r:embed="rId1"/>
            <a:srcRect l="0" t="0" r="66146" b="0"/>
            <a:stretch/>
          </p:blipFill>
          <p:spPr>
            <a:xfrm>
              <a:off x="-42120" y="-2160"/>
              <a:ext cx="1143360" cy="92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50" name="TextBox 20"/>
            <p:cNvSpPr/>
            <p:nvPr/>
          </p:nvSpPr>
          <p:spPr>
            <a:xfrm>
              <a:off x="1035720" y="273600"/>
              <a:ext cx="2270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GEORGE MASON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C733"/>
                  </a:solidFill>
                  <a:effectLst/>
                  <a:uFillTx/>
                  <a:latin typeface="Dubai"/>
                </a:rPr>
                <a:t>UNIVERSITY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1" name="Group 38"/>
          <p:cNvGrpSpPr/>
          <p:nvPr/>
        </p:nvGrpSpPr>
        <p:grpSpPr>
          <a:xfrm>
            <a:off x="10742400" y="102240"/>
            <a:ext cx="1266840" cy="1268280"/>
            <a:chOff x="10742400" y="102240"/>
            <a:chExt cx="1266840" cy="1268280"/>
          </a:xfrm>
        </p:grpSpPr>
        <p:pic>
          <p:nvPicPr>
            <p:cNvPr id="252" name="Picture 92"/>
            <p:cNvPicPr/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0742400" y="103320"/>
              <a:ext cx="1266840" cy="126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3" name="Picture 93"/>
            <p:cNvPicPr/>
            <p:nvPr/>
          </p:nvPicPr>
          <p:blipFill>
            <a:blip r:embed="rId3"/>
            <a:srcRect l="0" t="44439" r="0" b="40799"/>
            <a:stretch/>
          </p:blipFill>
          <p:spPr>
            <a:xfrm>
              <a:off x="10742400" y="667800"/>
              <a:ext cx="1266840" cy="185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4" name="Picture 94"/>
            <p:cNvPicPr/>
            <p:nvPr/>
          </p:nvPicPr>
          <p:blipFill>
            <a:blip r:embed="rId4"/>
            <a:srcRect l="20218" t="17167" r="19987" b="17283"/>
            <a:stretch/>
          </p:blipFill>
          <p:spPr>
            <a:xfrm>
              <a:off x="10997280" y="318960"/>
              <a:ext cx="763200" cy="83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5" name="Picture 95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0" t="0" r="64801" b="79535"/>
            <a:stretch/>
          </p:blipFill>
          <p:spPr>
            <a:xfrm>
              <a:off x="10742400" y="102240"/>
              <a:ext cx="444960" cy="257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1174</TotalTime>
  <Application>LibreOffice/26.2.2.2$MacOSX_AARCH64 LibreOffice_project/1f77d10d6938fd34972958f64b2bcfa54f8b1ba5</Application>
  <AppVersion>15.0000</AppVersion>
  <Words>1381</Words>
  <Paragraphs>145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2026-02-08T03:35:48Z</dcterms:created>
  <dc:creator>Linton Wells II</dc:creator>
  <dc:description/>
  <dc:language>en-US</dc:language>
  <cp:lastModifiedBy/>
  <cp:lastPrinted>2026-02-12T20:40:04Z</cp:lastPrinted>
  <dcterms:modified xsi:type="dcterms:W3CDTF">2026-04-23T12:12:50Z</dcterms:modified>
  <cp:revision>26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Widescreen</vt:lpwstr>
  </property>
  <property fmtid="{D5CDD505-2E9C-101B-9397-08002B2CF9AE}" pid="4" name="Slides">
    <vt:i4>15</vt:i4>
  </property>
</Properties>
</file>