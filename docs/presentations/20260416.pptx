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hdphoto2.wdp" ContentType="image/vnd.ms-photo"/>
  <Override PartName="/ppt/media/hdphoto1.wdp" ContentType="image/vnd.ms-phot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2440" y="365040"/>
            <a:ext cx="262692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7720" y="365040"/>
            <a:ext cx="773064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edit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 text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ond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3C1096-8517-43A1-B47F-301638B1DAF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5B1C4D-5DB9-4684-B256-69DA8307F84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128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600" y="4589640"/>
            <a:ext cx="1051128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988889-0DB8-442A-9B3D-54B0EAF34F4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51786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0400" y="1825560"/>
            <a:ext cx="51786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14AEF8-40BD-4FA3-AABF-A7DFA499E5B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5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520" y="1681200"/>
            <a:ext cx="515484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520" y="2505240"/>
            <a:ext cx="515484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0400" y="1681200"/>
            <a:ext cx="518040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0400" y="2505240"/>
            <a:ext cx="518040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18D9CB-850F-44D5-AC88-5D3179B2753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F7745A-4492-42D5-82DD-AEDD4308C1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dt" idx="19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0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1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1B6EE1-175F-49BA-9764-26016DA48F2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48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76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9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76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B177A3-473B-47F0-BFFF-E7B17DBAFB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76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960" cy="48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76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9A40BE-F085-4932-9447-43A31356E7A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4004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C605B1-D5C1-42BC-A23B-587D9DFAAFF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1"/>
          </p:nvPr>
        </p:nvSpPr>
        <p:spPr>
          <a:xfrm>
            <a:off x="83772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32"/>
          </p:nvPr>
        </p:nvSpPr>
        <p:spPr>
          <a:xfrm>
            <a:off x="4037400" y="6356520"/>
            <a:ext cx="411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33"/>
          </p:nvPr>
        </p:nvSpPr>
        <p:spPr>
          <a:xfrm>
            <a:off x="8607960" y="6356520"/>
            <a:ext cx="2741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012751-B181-4772-9090-6031333D693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8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4004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Spring2026DAEN PR Review #13–#17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What is meritorious, what is ready, and what the class should do next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Data science and analytics focus | April 16, 2026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65" name="Group 5"/>
          <p:cNvGrpSpPr/>
          <p:nvPr/>
        </p:nvGrpSpPr>
        <p:grpSpPr>
          <a:xfrm>
            <a:off x="-42840" y="-2160"/>
            <a:ext cx="3348720" cy="920520"/>
            <a:chOff x="-42840" y="-2160"/>
            <a:chExt cx="3348720" cy="920520"/>
          </a:xfrm>
        </p:grpSpPr>
        <p:pic>
          <p:nvPicPr>
            <p:cNvPr id="66" name="Picture 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1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OR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 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MA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SO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IVE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RSI</a:t>
              </a: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6"/>
          <p:cNvGrpSpPr/>
          <p:nvPr/>
        </p:nvGrpSpPr>
        <p:grpSpPr>
          <a:xfrm>
            <a:off x="10741680" y="102240"/>
            <a:ext cx="1267200" cy="1268640"/>
            <a:chOff x="10741680" y="102240"/>
            <a:chExt cx="1267200" cy="1268640"/>
          </a:xfrm>
        </p:grpSpPr>
        <p:pic>
          <p:nvPicPr>
            <p:cNvPr id="69" name="Picture 1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Picture 13"/>
            <p:cNvPicPr/>
            <p:nvPr/>
          </p:nvPicPr>
          <p:blipFill>
            <a:blip r:embed="rId4"/>
            <a:srcRect l="0" t="44439" r="0" b="40799"/>
            <a:stretch/>
          </p:blipFill>
          <p:spPr>
            <a:xfrm>
              <a:off x="1074168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Picture 14"/>
            <p:cNvPicPr/>
            <p:nvPr/>
          </p:nvPicPr>
          <p:blipFill>
            <a:blip r:embed="rId5"/>
            <a:srcRect l="20218" t="17167" r="19987" b="17283"/>
            <a:stretch/>
          </p:blipFill>
          <p:spPr>
            <a:xfrm>
              <a:off x="1099656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Picture 15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PRs #13–#17 at a glance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#13 improves Puerto Rico boundary-source readiness for future spatial analysis.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#14 proposes a stronger V2 local analytical workbench, but still needs smaller reviewable pieces.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PRs #15–#17 improved meeting-record continuity and naming consistency with low-risk merges.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Main lesson: ambition is welcome, but reviewability and reproducibility still matter.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75" name="Group 1"/>
          <p:cNvGrpSpPr/>
          <p:nvPr/>
        </p:nvGrpSpPr>
        <p:grpSpPr>
          <a:xfrm>
            <a:off x="-42840" y="-2160"/>
            <a:ext cx="3348720" cy="920520"/>
            <a:chOff x="-42840" y="-2160"/>
            <a:chExt cx="3348720" cy="920520"/>
          </a:xfrm>
        </p:grpSpPr>
        <p:pic>
          <p:nvPicPr>
            <p:cNvPr id="76" name="Picture 2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" name="TextBox 2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"/>
          <p:cNvGrpSpPr/>
          <p:nvPr/>
        </p:nvGrpSpPr>
        <p:grpSpPr>
          <a:xfrm>
            <a:off x="10741680" y="102240"/>
            <a:ext cx="1267200" cy="1268640"/>
            <a:chOff x="10741680" y="102240"/>
            <a:chExt cx="1267200" cy="1268640"/>
          </a:xfrm>
        </p:grpSpPr>
        <p:pic>
          <p:nvPicPr>
            <p:cNvPr id="79" name="Picture 3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Picture 4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Picture 5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" name="Picture 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#13: Geographic Reference Readiness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Adds official Census TIGER/Line references for Puerto Rico COUSUB and SUBBARRIO layers.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Verifies 2025 source links and explains likely analytical use for mapping, notebooks, and workbench work.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Meritorious because geography choice affects aggregation, fairness, and map interpretation.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Good class question: which layer should be the default statewide geography versus an optional pilot layer?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85" name="Group 3"/>
          <p:cNvGrpSpPr/>
          <p:nvPr/>
        </p:nvGrpSpPr>
        <p:grpSpPr>
          <a:xfrm>
            <a:off x="-42840" y="-2160"/>
            <a:ext cx="3348720" cy="920520"/>
            <a:chOff x="-42840" y="-2160"/>
            <a:chExt cx="3348720" cy="920520"/>
          </a:xfrm>
        </p:grpSpPr>
        <p:pic>
          <p:nvPicPr>
            <p:cNvPr id="86" name="Picture 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" name="TextBox 5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roup 4"/>
          <p:cNvGrpSpPr/>
          <p:nvPr/>
        </p:nvGrpSpPr>
        <p:grpSpPr>
          <a:xfrm>
            <a:off x="10741680" y="102240"/>
            <a:ext cx="1267200" cy="1268640"/>
            <a:chOff x="10741680" y="102240"/>
            <a:chExt cx="1267200" cy="1268640"/>
          </a:xfrm>
        </p:grpSpPr>
        <p:pic>
          <p:nvPicPr>
            <p:cNvPr id="89" name="Picture 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Picture 9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Picture 10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Picture 1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#14: Strong Direction, Not Merge-Ready Yet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Valuable ambition: V2 dashboard,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DuckDB baseline improvements, and a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richer local workbench.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Meritorious because it tries to connect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ranked municipios, stations, alerts, terrain,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and exploration in one place.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Not ready as-is: mixed scope, heavy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notebook churn, and cleanup still needed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before easy class review.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Teaching point: a good idea still needs a 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clean delivery path.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95" name="Group 7"/>
          <p:cNvGrpSpPr/>
          <p:nvPr/>
        </p:nvGrpSpPr>
        <p:grpSpPr>
          <a:xfrm>
            <a:off x="-42840" y="-2160"/>
            <a:ext cx="3348720" cy="920520"/>
            <a:chOff x="-42840" y="-2160"/>
            <a:chExt cx="3348720" cy="920520"/>
          </a:xfrm>
        </p:grpSpPr>
        <p:pic>
          <p:nvPicPr>
            <p:cNvPr id="96" name="Picture 1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TextBox 6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10741680" y="102240"/>
            <a:ext cx="1267200" cy="1268640"/>
            <a:chOff x="10741680" y="102240"/>
            <a:chExt cx="1267200" cy="1268640"/>
          </a:xfrm>
        </p:grpSpPr>
        <p:pic>
          <p:nvPicPr>
            <p:cNvPr id="99" name="Picture 1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" name="Picture 19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Picture 20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2" name="Picture 21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#14: Suggested Split Path for the Class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36400" y="1822320"/>
            <a:ext cx="51786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1. Runner / dependency / operator-readiness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Declare dependencies clearly, document the run path, and make local start/stop reliable.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Good lane for classmates comfortable with tooling and usability.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2. DuckDB baseline and test alignment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Stabilize loader/view names and fix the current smoke-test mismatch.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Best lane for data-pipeline and QA-focused contributors.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480000" y="1822320"/>
            <a:ext cx="51786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3. V2 dashboard app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Validate the app after the run path and data layer are stable.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Good lane for Streamlit, dashboard, and storytelling contributors.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4. Notebook reruns and docs refresh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Keep reruns scoped and docs clear so review stays readable.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Broad lane for class participation; does not need to sit on one person alone.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06" name="Group 9"/>
          <p:cNvGrpSpPr/>
          <p:nvPr/>
        </p:nvGrpSpPr>
        <p:grpSpPr>
          <a:xfrm>
            <a:off x="-42840" y="-2160"/>
            <a:ext cx="3348720" cy="920520"/>
            <a:chOff x="-42840" y="-2160"/>
            <a:chExt cx="3348720" cy="920520"/>
          </a:xfrm>
        </p:grpSpPr>
        <p:pic>
          <p:nvPicPr>
            <p:cNvPr id="107" name="Picture 22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7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10"/>
          <p:cNvGrpSpPr/>
          <p:nvPr/>
        </p:nvGrpSpPr>
        <p:grpSpPr>
          <a:xfrm>
            <a:off x="10741680" y="102240"/>
            <a:ext cx="1267200" cy="1268640"/>
            <a:chOff x="10741680" y="102240"/>
            <a:chExt cx="1267200" cy="1268640"/>
          </a:xfrm>
        </p:grpSpPr>
        <p:pic>
          <p:nvPicPr>
            <p:cNvPr id="110" name="Picture 23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Picture 24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2" name="Picture 25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Picture 2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PRs #15–#17: Small PRs, Real Value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#15 and PR #16 standardized March meeting filenames for consistency.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#17 added the March 26 meeting record after a quick content and alignment spot-check.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These were low-risk merges worth moving quickly.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Meritorious because documentation continuity and naming consistency are part of reproducibility.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Lesson: not every useful contribution has to be flashy.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16" name="Group 11"/>
          <p:cNvGrpSpPr/>
          <p:nvPr/>
        </p:nvGrpSpPr>
        <p:grpSpPr>
          <a:xfrm>
            <a:off x="-42480" y="-2160"/>
            <a:ext cx="3348720" cy="920520"/>
            <a:chOff x="-42480" y="-2160"/>
            <a:chExt cx="3348720" cy="920520"/>
          </a:xfrm>
        </p:grpSpPr>
        <p:pic>
          <p:nvPicPr>
            <p:cNvPr id="117" name="Picture 1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48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" name="TextBox 3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10742040" y="102240"/>
            <a:ext cx="1267200" cy="1268640"/>
            <a:chOff x="10742040" y="102240"/>
            <a:chExt cx="1267200" cy="1268640"/>
          </a:xfrm>
        </p:grpSpPr>
        <p:pic>
          <p:nvPicPr>
            <p:cNvPr id="120" name="Picture 2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" name="Picture 2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04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Picture 2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92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3" name="Picture 3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New Meeting File Hygiene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Standard now trends toward N_MOM_Month_DD.ext.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Use underscores instead of spaces or parentheses.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Keep the numeric sequence simple and obvious.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Prefer final reviewed filenames over ambiguous working-copy names.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Shared responsibility: everyone who touches meeting records should preserve this hygiene.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26" name="Group 13"/>
          <p:cNvGrpSpPr/>
          <p:nvPr/>
        </p:nvGrpSpPr>
        <p:grpSpPr>
          <a:xfrm>
            <a:off x="-42480" y="-2160"/>
            <a:ext cx="3348720" cy="920520"/>
            <a:chOff x="-42480" y="-2160"/>
            <a:chExt cx="3348720" cy="920520"/>
          </a:xfrm>
        </p:grpSpPr>
        <p:pic>
          <p:nvPicPr>
            <p:cNvPr id="127" name="Picture 3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48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8" name="TextBox 8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14"/>
          <p:cNvGrpSpPr/>
          <p:nvPr/>
        </p:nvGrpSpPr>
        <p:grpSpPr>
          <a:xfrm>
            <a:off x="10742040" y="102240"/>
            <a:ext cx="1267200" cy="1268640"/>
            <a:chOff x="10742040" y="102240"/>
            <a:chExt cx="1267200" cy="1268640"/>
          </a:xfrm>
        </p:grpSpPr>
        <p:pic>
          <p:nvPicPr>
            <p:cNvPr id="130" name="Picture 3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" name="Picture 3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04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Picture 3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92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Picture 3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Imagery vs. LiDAR: Where to Focus Next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LiDAR / terrain is closer to actionable now because the repo already has a terrain workflow scaffold.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DEM, coastal, soils, land-cover, and stream inputs can improve flood relevance and spatial realism.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Imagery / IMINT is still useful for validation, change detection, and storytelling.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Recommendation: prioritize terrain/LiDAR first and treat imagery as a secondary or explicitly owned pilot lane.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36" name="Group 15"/>
          <p:cNvGrpSpPr/>
          <p:nvPr/>
        </p:nvGrpSpPr>
        <p:grpSpPr>
          <a:xfrm>
            <a:off x="-42120" y="-2160"/>
            <a:ext cx="3348720" cy="920520"/>
            <a:chOff x="-42120" y="-2160"/>
            <a:chExt cx="3348720" cy="920520"/>
          </a:xfrm>
        </p:grpSpPr>
        <p:pic>
          <p:nvPicPr>
            <p:cNvPr id="137" name="Picture 3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" name="TextBox 9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16"/>
          <p:cNvGrpSpPr/>
          <p:nvPr/>
        </p:nvGrpSpPr>
        <p:grpSpPr>
          <a:xfrm>
            <a:off x="10742400" y="102240"/>
            <a:ext cx="1267200" cy="1268640"/>
            <a:chOff x="10742400" y="102240"/>
            <a:chExt cx="1267200" cy="1268640"/>
          </a:xfrm>
        </p:grpSpPr>
        <p:pic>
          <p:nvPicPr>
            <p:cNvPr id="140" name="Picture 3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1" name="Picture 3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Picture 3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Picture 4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Open Analytical Priorities Still Worth Class Attention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Terrain / LiDAR lane: the workflow exists, but more real source staging and pilot analysis are still needed.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Vulnerability refinement: households without vehicles, housing fragility, and poverty/income interpretation still deserve attention.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Validation research: Salinas, Mayagüez, and San Juan remain useful focus municipios.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Optional class closeout item: short AI/ML reflection note as a separate low-stakes artifact.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46" name="Group 17"/>
          <p:cNvGrpSpPr/>
          <p:nvPr/>
        </p:nvGrpSpPr>
        <p:grpSpPr>
          <a:xfrm>
            <a:off x="-42120" y="-2160"/>
            <a:ext cx="3348720" cy="920520"/>
            <a:chOff x="-42120" y="-2160"/>
            <a:chExt cx="3348720" cy="920520"/>
          </a:xfrm>
        </p:grpSpPr>
        <p:pic>
          <p:nvPicPr>
            <p:cNvPr id="147" name="Picture 4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" name="TextBox 10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" name="Group 18"/>
          <p:cNvGrpSpPr/>
          <p:nvPr/>
        </p:nvGrpSpPr>
        <p:grpSpPr>
          <a:xfrm>
            <a:off x="10742400" y="102240"/>
            <a:ext cx="1267200" cy="1268640"/>
            <a:chOff x="10742400" y="102240"/>
            <a:chExt cx="1267200" cy="1268640"/>
          </a:xfrm>
        </p:grpSpPr>
        <p:pic>
          <p:nvPicPr>
            <p:cNvPr id="150" name="Picture 4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Picture 4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2" name="Picture 4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Picture 4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Open Analytical Priorities Still Worth Class Attention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128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Terrain / LiDAR lane: the workflow exists, but more real source staging and pilot analysis are still needed.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Vulnerability refinement: households without vehicles, housing fragility, and poverty/income interpretation still deserve attention.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Validation research: Salinas, Mayagüez, and San Juan remain useful focus municipios.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Optional class closeout item: short AI/ML reflection note as a separate low-stakes artifact.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56" name="Group 19"/>
          <p:cNvGrpSpPr/>
          <p:nvPr/>
        </p:nvGrpSpPr>
        <p:grpSpPr>
          <a:xfrm>
            <a:off x="-42120" y="-2160"/>
            <a:ext cx="3348720" cy="920520"/>
            <a:chOff x="-42120" y="-2160"/>
            <a:chExt cx="3348720" cy="920520"/>
          </a:xfrm>
        </p:grpSpPr>
        <p:pic>
          <p:nvPicPr>
            <p:cNvPr id="157" name="Picture 4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TextBox 11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roup 20"/>
          <p:cNvGrpSpPr/>
          <p:nvPr/>
        </p:nvGrpSpPr>
        <p:grpSpPr>
          <a:xfrm>
            <a:off x="10742400" y="102240"/>
            <a:ext cx="1267200" cy="1268640"/>
            <a:chOff x="10742400" y="102240"/>
            <a:chExt cx="1267200" cy="1268640"/>
          </a:xfrm>
        </p:grpSpPr>
        <p:pic>
          <p:nvPicPr>
            <p:cNvPr id="160" name="Picture 4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Picture 4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2" name="Picture 4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" name="Picture 5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128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Appendix: PR Status and Next Action Owners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66" name="Table 3"/>
          <p:cNvGraphicFramePr/>
          <p:nvPr/>
        </p:nvGraphicFramePr>
        <p:xfrm>
          <a:off x="411480" y="1554480"/>
          <a:ext cx="11201040" cy="416016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240280"/>
                <a:gridCol w="3017520"/>
                <a:gridCol w="4389120"/>
              </a:tblGrid>
              <a:tr h="693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Why it matters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Next action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On hook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#13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Open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Spatial reference note for future geography choices.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Review and merge when ready; class comments on COUSUB vs SUBBARRIO are optional, not blockers.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You approve/merge; class can comment if useful.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#14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Open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Main student-forward engineering thread for the V2 workbench direction.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Split or reduce into smaller mergeable blocks before merge.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Class team plus Siva and collaborators; you guide and approve.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#15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Merged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Meeting naming cleanup.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None.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Done.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#16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Merged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Meeting naming cleanup.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None.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Done.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#17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Merged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March 26 meeting record added.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None; keep the follow-on alignment items in mind.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Done.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67" name="TextBox 4"/>
          <p:cNvSpPr/>
          <p:nvPr/>
        </p:nvSpPr>
        <p:spPr>
          <a:xfrm>
            <a:off x="502920" y="571500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4F6F52"/>
                </a:solidFill>
                <a:effectLst/>
                <a:uFillTx/>
                <a:latin typeface="Arial"/>
              </a:rPr>
              <a:t>Goal: keep students in the front seat and avoid dumping the remaining forward path on one contributor.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21"/>
          <p:cNvGrpSpPr/>
          <p:nvPr/>
        </p:nvGrpSpPr>
        <p:grpSpPr>
          <a:xfrm>
            <a:off x="-42120" y="-2160"/>
            <a:ext cx="3348720" cy="920520"/>
            <a:chOff x="-42120" y="-2160"/>
            <a:chExt cx="3348720" cy="920520"/>
          </a:xfrm>
        </p:grpSpPr>
        <p:pic>
          <p:nvPicPr>
            <p:cNvPr id="169" name="Picture 5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TextBox 12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Group 22"/>
          <p:cNvGrpSpPr/>
          <p:nvPr/>
        </p:nvGrpSpPr>
        <p:grpSpPr>
          <a:xfrm>
            <a:off x="10742400" y="102240"/>
            <a:ext cx="1267200" cy="1268640"/>
            <a:chOff x="10742400" y="102240"/>
            <a:chExt cx="1267200" cy="1268640"/>
          </a:xfrm>
        </p:grpSpPr>
        <p:pic>
          <p:nvPicPr>
            <p:cNvPr id="172" name="Picture 5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" name="Picture 5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Picture 5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Picture 5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128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Next Class Goal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128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Keep students in the front seat. Pick one or two analytical lanes. Build like data scientists and analysts who can explain and validate their choices.</a:t>
            </a:r>
            <a:endParaRPr lang="en-US" sz="2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grpSp>
        <p:nvGrpSpPr>
          <p:cNvPr id="178" name="Group 23"/>
          <p:cNvGrpSpPr/>
          <p:nvPr/>
        </p:nvGrpSpPr>
        <p:grpSpPr>
          <a:xfrm>
            <a:off x="-42120" y="-2160"/>
            <a:ext cx="3348720" cy="920520"/>
            <a:chOff x="-42120" y="-2160"/>
            <a:chExt cx="3348720" cy="920520"/>
          </a:xfrm>
        </p:grpSpPr>
        <p:pic>
          <p:nvPicPr>
            <p:cNvPr id="179" name="Picture 5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720" cy="920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TextBox 13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24"/>
          <p:cNvGrpSpPr/>
          <p:nvPr/>
        </p:nvGrpSpPr>
        <p:grpSpPr>
          <a:xfrm>
            <a:off x="10742400" y="102240"/>
            <a:ext cx="1267200" cy="1268640"/>
            <a:chOff x="10742400" y="102240"/>
            <a:chExt cx="1267200" cy="1268640"/>
          </a:xfrm>
        </p:grpSpPr>
        <p:pic>
          <p:nvPicPr>
            <p:cNvPr id="182" name="Picture 5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7200" cy="1267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Picture 5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7200" cy="18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4" name="Picture 5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560" cy="83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Picture 6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5320" cy="258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</TotalTime>
  <Application>LibreOffice/26.2.2.2$MacOSX_AARCH64 LibreOffice_project/1f77d10d6938fd34972958f64b2bcfa54f8b1ba5</Application>
  <AppVersion>15.0000</AppVersion>
  <Words>1381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2026-02-08T03:35:48Z</dcterms:created>
  <dc:creator>Linton Wells II</dc:creator>
  <dc:description/>
  <dc:language>en-US</dc:language>
  <cp:lastModifiedBy/>
  <cp:lastPrinted>2026-02-12T20:40:04Z</cp:lastPrinted>
  <dcterms:modified xsi:type="dcterms:W3CDTF">2026-04-14T22:36:41Z</dcterms:modified>
  <cp:revision>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